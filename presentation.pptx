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may Jain" userId="e4b45cb7-7d03-43a6-af7b-c2314fb2b44c" providerId="ADAL" clId="{C779789D-4034-46B7-8293-C654C836E78E}"/>
    <pc:docChg chg="modSld">
      <pc:chgData name="Tanmay Jain" userId="e4b45cb7-7d03-43a6-af7b-c2314fb2b44c" providerId="ADAL" clId="{C779789D-4034-46B7-8293-C654C836E78E}" dt="2026-07-10T18:27:52.258" v="11" actId="14100"/>
      <pc:docMkLst>
        <pc:docMk/>
      </pc:docMkLst>
      <pc:sldChg chg="addSp modSp mod">
        <pc:chgData name="Tanmay Jain" userId="e4b45cb7-7d03-43a6-af7b-c2314fb2b44c" providerId="ADAL" clId="{C779789D-4034-46B7-8293-C654C836E78E}" dt="2026-07-10T18:27:52.258" v="11" actId="14100"/>
        <pc:sldMkLst>
          <pc:docMk/>
          <pc:sldMk cId="0" sldId="259"/>
        </pc:sldMkLst>
        <pc:picChg chg="add mod">
          <ac:chgData name="Tanmay Jain" userId="e4b45cb7-7d03-43a6-af7b-c2314fb2b44c" providerId="ADAL" clId="{C779789D-4034-46B7-8293-C654C836E78E}" dt="2026-07-10T18:27:52.258" v="11" actId="14100"/>
          <ac:picMkLst>
            <pc:docMk/>
            <pc:sldMk cId="0" sldId="259"/>
            <ac:picMk id="5" creationId="{9EE5D903-C836-5452-5776-61DA0C21C606}"/>
          </ac:picMkLst>
        </pc:picChg>
      </pc:sldChg>
      <pc:sldChg chg="addSp modSp mod">
        <pc:chgData name="Tanmay Jain" userId="e4b45cb7-7d03-43a6-af7b-c2314fb2b44c" providerId="ADAL" clId="{C779789D-4034-46B7-8293-C654C836E78E}" dt="2026-07-10T18:27:19.142" v="7" actId="1037"/>
        <pc:sldMkLst>
          <pc:docMk/>
          <pc:sldMk cId="0" sldId="260"/>
        </pc:sldMkLst>
        <pc:spChg chg="mod">
          <ac:chgData name="Tanmay Jain" userId="e4b45cb7-7d03-43a6-af7b-c2314fb2b44c" providerId="ADAL" clId="{C779789D-4034-46B7-8293-C654C836E78E}" dt="2026-07-10T18:27:05.057" v="4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Tanmay Jain" userId="e4b45cb7-7d03-43a6-af7b-c2314fb2b44c" providerId="ADAL" clId="{C779789D-4034-46B7-8293-C654C836E78E}" dt="2026-07-10T18:27:12.661" v="5" actId="1076"/>
          <ac:spMkLst>
            <pc:docMk/>
            <pc:sldMk cId="0" sldId="260"/>
            <ac:spMk id="3" creationId="{00000000-0000-0000-0000-000000000000}"/>
          </ac:spMkLst>
        </pc:spChg>
        <pc:picChg chg="add mod">
          <ac:chgData name="Tanmay Jain" userId="e4b45cb7-7d03-43a6-af7b-c2314fb2b44c" providerId="ADAL" clId="{C779789D-4034-46B7-8293-C654C836E78E}" dt="2026-07-10T18:27:19.142" v="7" actId="1037"/>
          <ac:picMkLst>
            <pc:docMk/>
            <pc:sldMk cId="0" sldId="260"/>
            <ac:picMk id="5" creationId="{E9DDE489-B1FF-2B25-A792-3E5880C60F4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Physics-Guided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Predicting Energy for Micro Gas Turbines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Why is this hard?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Thermodynamic models are incredibly accurate, but getting the internal sensor data to run them is practically impossible in commercial setups.</a:t>
            </a:r>
          </a:p>
          <a:p>
            <a:pPr>
              <a:spcAft>
                <a:spcPts val="1200"/>
              </a:spcAft>
              <a:defRPr sz="1600"/>
            </a:pPr>
            <a:r>
              <a:t>• Throwing a standard LSTM at the problem backfires. Without a massive dataset, the network just makes things up.</a:t>
            </a:r>
          </a:p>
          <a:p>
            <a:pPr>
              <a:spcAft>
                <a:spcPts val="1200"/>
              </a:spcAft>
              <a:defRPr sz="1600"/>
            </a:pPr>
            <a:r>
              <a:t>• The result? Impossible power spikes and erratic predictions that completely ignore the laws of physics.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The Fix: Forcing the Physics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We built a custom loss function. If the network guesses a ramp rate faster than the physical limit (+6.388 W/s), it takes a massive penalty.</a:t>
            </a:r>
          </a:p>
          <a:p>
            <a:pPr>
              <a:spcAft>
                <a:spcPts val="1200"/>
              </a:spcAft>
              <a:defRPr sz="1600"/>
            </a:pPr>
            <a:r>
              <a:t>• We stopped guessing memory bounds. We locked the context window at exactly 451 steps to match the turbine's real inertia delay.</a:t>
            </a:r>
          </a:p>
          <a:p>
            <a:pPr>
              <a:spcAft>
                <a:spcPts val="1200"/>
              </a:spcAft>
              <a:defRPr sz="1600"/>
            </a:pPr>
            <a:r>
              <a:t>• Applied standard scaling to stop the network from crashing when dealing with raw Wattage in the millions.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Did it work? (Error Reduction)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rPr dirty="0"/>
              <a:t>• Yes. Pinning the network to physical constraints slashed tracking errors by more than 40%.</a:t>
            </a:r>
          </a:p>
          <a:p>
            <a:pPr>
              <a:spcAft>
                <a:spcPts val="1200"/>
              </a:spcAft>
              <a:defRPr sz="1600"/>
            </a:pPr>
            <a:r>
              <a:t>• It solves the data starvation problem: our model hits higher accuracy on 2 datasets than a standard model hits on 6.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• The math actively stops the network from overfitting to bad noise.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5D903-C836-5452-5776-61DA0C21C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8351"/>
            <a:ext cx="4015503" cy="22762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>
              <a:defRPr sz="2400" b="1"/>
            </a:pPr>
            <a:r>
              <a:rPr dirty="0"/>
              <a:t>Visual Proof of Stability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001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rPr dirty="0"/>
              <a:t>• Look at the flat sections: the network perfectly suppresses static noise during steady-state operations.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• Look at the climbs: it smoothly respects the physical inertia of the rotor without vibrating wildly.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• The green line hugs the reality of the hardware.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DDE489-B1FF-2B25-A792-3E5880C60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48" y="2789891"/>
            <a:ext cx="9144000" cy="40681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• You can actually teach a neural network to obey thermodynamics.</a:t>
            </a:r>
          </a:p>
          <a:p>
            <a:pPr>
              <a:spcAft>
                <a:spcPts val="1200"/>
              </a:spcAft>
              <a:defRPr sz="1600"/>
            </a:pPr>
            <a:r>
              <a:t>• Scaling the data and locking the memory window are non-negotiable if you want physical accuracy.</a:t>
            </a:r>
          </a:p>
          <a:p>
            <a:pPr>
              <a:spcAft>
                <a:spcPts val="1200"/>
              </a:spcAft>
              <a:defRPr sz="1600"/>
            </a:pPr>
            <a:r>
              <a:t>• This approach proves you can build highly reliable models for complex grid assets without needing millions of data 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323</Words>
  <Application>Microsoft Office PowerPoint</Application>
  <PresentationFormat>On-screen Show 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Physics-Guided Machine Learning</vt:lpstr>
      <vt:lpstr>Why is this hard?</vt:lpstr>
      <vt:lpstr>The Fix: Forcing the Physics</vt:lpstr>
      <vt:lpstr>Did it work? (Error Reduction)</vt:lpstr>
      <vt:lpstr>Visual Proof of Stability</vt:lpstr>
      <vt:lpstr>The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Tanmay Jain</cp:lastModifiedBy>
  <cp:revision>1</cp:revision>
  <dcterms:created xsi:type="dcterms:W3CDTF">2013-01-27T09:14:16Z</dcterms:created>
  <dcterms:modified xsi:type="dcterms:W3CDTF">2026-07-10T18:28:06Z</dcterms:modified>
  <cp:category/>
</cp:coreProperties>
</file>